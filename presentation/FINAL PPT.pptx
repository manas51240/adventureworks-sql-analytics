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3" r:id="rId8"/>
    <p:sldId id="264" r:id="rId9"/>
    <p:sldId id="265" r:id="rId10"/>
    <p:sldId id="266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18EAC7-DFF2-48BE-9E04-BB687D49DD98}">
          <p14:sldIdLst>
            <p14:sldId id="256"/>
            <p14:sldId id="257"/>
          </p14:sldIdLst>
        </p14:section>
        <p14:section name="Untitled Section" id="{C80CFEA4-E0FF-4672-B563-4E1638A86ABF}">
          <p14:sldIdLst>
            <p14:sldId id="258"/>
            <p14:sldId id="259"/>
            <p14:sldId id="260"/>
            <p14:sldId id="267"/>
            <p14:sldId id="263"/>
            <p14:sldId id="264"/>
            <p14:sldId id="265"/>
            <p14:sldId id="266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0" y="8751"/>
            <a:ext cx="1143000" cy="1143000"/>
          </a:xfrm>
          <a:prstGeom prst="ellipse">
            <a:avLst/>
          </a:prstGeom>
          <a:solidFill>
            <a:srgbClr val="EB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7563" y="763524"/>
            <a:ext cx="502920" cy="502920"/>
          </a:xfrm>
          <a:prstGeom prst="ellipse">
            <a:avLst/>
          </a:prstGeom>
          <a:solidFill>
            <a:srgbClr val="D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93171" y="5340096"/>
            <a:ext cx="1371600" cy="1371600"/>
          </a:xfrm>
          <a:prstGeom prst="ellipse">
            <a:avLst/>
          </a:prstGeom>
          <a:solidFill>
            <a:srgbClr val="E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685800"/>
            <a:ext cx="1554480" cy="310896"/>
          </a:xfrm>
          <a:prstGeom prst="round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554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dirty="0"/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2A43"/>
                </a:solidFill>
                <a:latin typeface="Aptos Display"/>
              </a:defRPr>
            </a:pPr>
            <a:r>
              <a:t>ADVENTURE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84831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C9AB7"/>
                </a:solidFill>
                <a:latin typeface="Aptos Display"/>
              </a:defRPr>
            </a:pPr>
            <a:r>
              <a:t>Sales Analysis &amp; Dashboard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95349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End-to-End Data Analytics using</a:t>
            </a:r>
            <a:endParaRPr lang="en-US" sz="2400" b="1" dirty="0"/>
          </a:p>
          <a:p>
            <a:r>
              <a:rPr lang="en-US" sz="24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Excel • SQL • Power BI • Tableau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68B9A"/>
                </a:solidFill>
                <a:latin typeface="Aptos"/>
              </a:defRPr>
            </a:pPr>
            <a:r>
              <a:t>Data Preparation • Analysis • DAX • Dashboards • Business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72000"/>
            <a:ext cx="1417320" cy="310896"/>
          </a:xfrm>
          <a:prstGeom prst="round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MICROSOFT 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4572000"/>
            <a:ext cx="1234440" cy="310896"/>
          </a:xfrm>
          <a:prstGeom prst="round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0280" y="4590288"/>
            <a:ext cx="1234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1" y="5029200"/>
            <a:ext cx="123444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98829" y="5047488"/>
            <a:ext cx="42191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</a:rPr>
              <a:t>SQL</a:t>
            </a:r>
            <a:endParaRPr lang="en-US" sz="1050" dirty="0"/>
          </a:p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629400"/>
            <a:ext cx="247535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dirty="0"/>
              <a:t>Adventure Works </a:t>
            </a:r>
            <a:r>
              <a:rPr lang="en-IN" dirty="0"/>
              <a:t>|</a:t>
            </a:r>
            <a:r>
              <a:rPr dirty="0"/>
              <a:t> Project Presentation</a:t>
            </a:r>
            <a:r>
              <a:rPr lang="en-US" dirty="0"/>
              <a:t> </a:t>
            </a:r>
            <a:r>
              <a:rPr lang="en-IN" dirty="0"/>
              <a:t>| Group 2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04CFF7B0-6678-71E2-0755-5A292764AE08}"/>
              </a:ext>
            </a:extLst>
          </p:cNvPr>
          <p:cNvSpPr/>
          <p:nvPr/>
        </p:nvSpPr>
        <p:spPr>
          <a:xfrm>
            <a:off x="2658151" y="5029200"/>
            <a:ext cx="1234440" cy="31089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D31296-2019-80BE-EA7A-F93CF2E121A6}"/>
              </a:ext>
            </a:extLst>
          </p:cNvPr>
          <p:cNvSpPr txBox="1"/>
          <p:nvPr/>
        </p:nvSpPr>
        <p:spPr>
          <a:xfrm>
            <a:off x="2867216" y="5071964"/>
            <a:ext cx="724878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TABLEAU</a:t>
            </a:r>
            <a:endParaRPr lang="en-US" sz="1050" dirty="0"/>
          </a:p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351C46-8FC9-8C6E-67D1-47E68E747695}"/>
              </a:ext>
            </a:extLst>
          </p:cNvPr>
          <p:cNvSpPr/>
          <p:nvPr/>
        </p:nvSpPr>
        <p:spPr>
          <a:xfrm>
            <a:off x="10646289" y="6279812"/>
            <a:ext cx="502920" cy="502920"/>
          </a:xfrm>
          <a:prstGeom prst="ellipse">
            <a:avLst/>
          </a:prstGeom>
          <a:solidFill>
            <a:srgbClr val="D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02CC6EFE-365F-B6A2-19C7-1E075C560A7A}"/>
              </a:ext>
            </a:extLst>
          </p:cNvPr>
          <p:cNvSpPr/>
          <p:nvPr/>
        </p:nvSpPr>
        <p:spPr>
          <a:xfrm>
            <a:off x="9367590" y="6227064"/>
            <a:ext cx="1554480" cy="310896"/>
          </a:xfrm>
          <a:prstGeom prst="round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8081AC-AB10-6614-81EA-ABA8F04AF6BE}"/>
              </a:ext>
            </a:extLst>
          </p:cNvPr>
          <p:cNvSpPr txBox="1"/>
          <p:nvPr/>
        </p:nvSpPr>
        <p:spPr>
          <a:xfrm>
            <a:off x="9833543" y="6245450"/>
            <a:ext cx="73930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GROUP 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TEAM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6858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2A43"/>
                </a:solidFill>
                <a:latin typeface="Aptos Display"/>
              </a:defRPr>
            </a:pPr>
            <a:r>
              <a:rPr dirty="0"/>
              <a:t>PROJECT TEAM</a:t>
            </a:r>
            <a:r>
              <a:rPr lang="en-IN" dirty="0"/>
              <a:t> MEMBERS </a:t>
            </a:r>
          </a:p>
          <a:p>
            <a:pPr algn="l">
              <a:defRPr sz="2300" b="1">
                <a:solidFill>
                  <a:srgbClr val="0F2A43"/>
                </a:solidFill>
                <a:latin typeface="Aptos Display"/>
              </a:defRPr>
            </a:pPr>
            <a:r>
              <a:rPr lang="en-IN" dirty="0"/>
              <a:t>GROUP - 2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19" y="1920240"/>
            <a:ext cx="122707" cy="84124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G NANDINI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4343400" y="192024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109728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07568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SHUBHANG UPADHYAY</a:t>
            </a:r>
            <a:endParaRPr sz="1600" dirty="0"/>
          </a:p>
        </p:txBody>
      </p:sp>
      <p:sp>
        <p:nvSpPr>
          <p:cNvPr id="19" name="Rounded Rectangle 18"/>
          <p:cNvSpPr/>
          <p:nvPr/>
        </p:nvSpPr>
        <p:spPr>
          <a:xfrm>
            <a:off x="8183880" y="192024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80" y="1930072"/>
            <a:ext cx="109728" cy="841248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412480" y="207568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ASISH MISHRA</a:t>
            </a:r>
            <a:endParaRPr sz="1600" dirty="0"/>
          </a:p>
        </p:txBody>
      </p:sp>
      <p:sp>
        <p:nvSpPr>
          <p:cNvPr id="24" name="Rounded Rectangle 23"/>
          <p:cNvSpPr/>
          <p:nvPr/>
        </p:nvSpPr>
        <p:spPr>
          <a:xfrm>
            <a:off x="502920" y="342900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428999"/>
            <a:ext cx="109728" cy="859155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58444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RONAK DEEPAK BORA</a:t>
            </a:r>
            <a:endParaRPr sz="1600" dirty="0"/>
          </a:p>
        </p:txBody>
      </p:sp>
      <p:sp>
        <p:nvSpPr>
          <p:cNvPr id="29" name="Rounded Rectangle 28"/>
          <p:cNvSpPr/>
          <p:nvPr/>
        </p:nvSpPr>
        <p:spPr>
          <a:xfrm>
            <a:off x="4343400" y="342900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3429000"/>
            <a:ext cx="109728" cy="841248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584448"/>
            <a:ext cx="2987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t>MANAS VAIJANATH DESHMUKH</a:t>
            </a:r>
            <a:endParaRPr sz="1600" dirty="0"/>
          </a:p>
        </p:txBody>
      </p:sp>
      <p:sp>
        <p:nvSpPr>
          <p:cNvPr id="34" name="Rounded Rectangle 33"/>
          <p:cNvSpPr/>
          <p:nvPr/>
        </p:nvSpPr>
        <p:spPr>
          <a:xfrm>
            <a:off x="8183880" y="3429000"/>
            <a:ext cx="3429000" cy="859154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80" y="3429000"/>
            <a:ext cx="109728" cy="859154"/>
          </a:xfrm>
          <a:prstGeom prst="rect">
            <a:avLst/>
          </a:prstGeom>
          <a:solidFill>
            <a:srgbClr val="DC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358444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SAMARTH PRAVIN YETE</a:t>
            </a:r>
            <a:endParaRPr sz="1600" dirty="0"/>
          </a:p>
        </p:txBody>
      </p:sp>
      <p:sp>
        <p:nvSpPr>
          <p:cNvPr id="40" name="Rectangle 39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6629400"/>
            <a:ext cx="247535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Adventure Works | Project Presentation | Group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4" name="Rounded Rectangle 28">
            <a:extLst>
              <a:ext uri="{FF2B5EF4-FFF2-40B4-BE49-F238E27FC236}">
                <a16:creationId xmlns:a16="http://schemas.microsoft.com/office/drawing/2014/main" id="{D17FA47B-BD87-0759-D825-8382B52D8790}"/>
              </a:ext>
            </a:extLst>
          </p:cNvPr>
          <p:cNvSpPr/>
          <p:nvPr/>
        </p:nvSpPr>
        <p:spPr>
          <a:xfrm>
            <a:off x="502920" y="4724399"/>
            <a:ext cx="34290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DD1ACB-7368-3471-B6F1-02FF5F2D9263}"/>
              </a:ext>
            </a:extLst>
          </p:cNvPr>
          <p:cNvSpPr/>
          <p:nvPr/>
        </p:nvSpPr>
        <p:spPr>
          <a:xfrm>
            <a:off x="505739" y="4742984"/>
            <a:ext cx="109728" cy="840950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0188A5-7BF9-7F15-72E6-5FDAAB936E21}"/>
              </a:ext>
            </a:extLst>
          </p:cNvPr>
          <p:cNvSpPr/>
          <p:nvPr/>
        </p:nvSpPr>
        <p:spPr>
          <a:xfrm>
            <a:off x="8183880" y="1920240"/>
            <a:ext cx="109728" cy="869062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6C4709-80B3-B0B9-3FEE-88FB264A9D2B}"/>
              </a:ext>
            </a:extLst>
          </p:cNvPr>
          <p:cNvSpPr txBox="1"/>
          <p:nvPr/>
        </p:nvSpPr>
        <p:spPr>
          <a:xfrm>
            <a:off x="731520" y="4915169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A43"/>
                </a:solidFill>
                <a:latin typeface="Aptos"/>
              </a:defRPr>
            </a:pPr>
            <a:r>
              <a:rPr lang="en-IN" sz="1600" dirty="0"/>
              <a:t>YOGESH ANIL PATIL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t>Excel +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"/>
              </a:rPr>
              <a:t>Adventure Works Sales Analytics • Excel • SQL • Power BI • Tableau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0185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A3744"/>
                </a:solidFill>
                <a:latin typeface="Aptos"/>
              </a:defRPr>
            </a:pPr>
            <a:r>
              <a:rPr lang="en-US" sz="1150" dirty="0">
                <a:latin typeface="Aptos"/>
              </a:rPr>
              <a:t>Adventure Works Cycles is a fictional multinational bicycle manufacturer and seller. This project transforms raw sales data into business insights across products, customers, regions and time, using Excel, SQL, Power BI and Tableau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2651760" cy="54864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478024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43784"/>
            <a:ext cx="232257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rPr dirty="0"/>
              <a:t>Append and merge sales/product/customer data; clean fields and create relationships.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55848" y="2331720"/>
            <a:ext cx="2651760" cy="54864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2478024"/>
            <a:ext cx="2322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Aptos"/>
              </a:rPr>
              <a:t>SQL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843784"/>
            <a:ext cx="232257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Aptos"/>
              </a:rPr>
              <a:t>13 business questions solved with queries, joins, dates and aggregations.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233172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2478024"/>
            <a:ext cx="2322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Aptos"/>
              </a:rPr>
              <a:t>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843784"/>
            <a:ext cx="232257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Aptos"/>
              </a:rPr>
              <a:t>Excel, Tableau and Power BI dashboards with KPIs, charts and slicers.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233172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61704" y="2331720"/>
            <a:ext cx="2651760" cy="54864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26296" y="2478024"/>
            <a:ext cx="2322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Aptos"/>
              </a:rPr>
              <a:t>POWER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843784"/>
            <a:ext cx="232257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Aptos"/>
              </a:rPr>
              <a:t>Data cleaning, append/merge, transformations and calculated fields.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96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PROJECT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72000"/>
            <a:ext cx="1417320" cy="310896"/>
          </a:xfrm>
          <a:prstGeom prst="round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4572000"/>
            <a:ext cx="1417320" cy="310896"/>
          </a:xfrm>
          <a:prstGeom prst="round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317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Data Prep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4572000"/>
            <a:ext cx="1417320" cy="310896"/>
          </a:xfrm>
          <a:prstGeom prst="round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86090" y="4590288"/>
            <a:ext cx="56618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Model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6052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4572000"/>
            <a:ext cx="141732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3712" y="4590288"/>
            <a:ext cx="96853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Calculations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74340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4572000"/>
            <a:ext cx="1417320" cy="310896"/>
          </a:xfrm>
          <a:prstGeom prst="round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2872" y="45994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8B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20" y="4572000"/>
            <a:ext cx="1417320" cy="310896"/>
          </a:xfrm>
          <a:prstGeom prst="round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46920" y="4590288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6629400"/>
            <a:ext cx="247535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Adventure Works | Project Presentation | Group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D564D1-7985-B834-2664-6287354B58E9}"/>
              </a:ext>
            </a:extLst>
          </p:cNvPr>
          <p:cNvSpPr txBox="1"/>
          <p:nvPr/>
        </p:nvSpPr>
        <p:spPr>
          <a:xfrm>
            <a:off x="636294" y="5406110"/>
            <a:ext cx="102579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400" b="1" dirty="0">
                <a:latin typeface="Aptos"/>
              </a:rPr>
              <a:t>DATA MODEL : </a:t>
            </a:r>
            <a:r>
              <a:rPr sz="1400" b="1" i="0" dirty="0" err="1">
                <a:latin typeface="Aptos"/>
              </a:rPr>
              <a:t>Fact_Sales</a:t>
            </a:r>
            <a:r>
              <a:rPr sz="1400" b="1" i="0" dirty="0">
                <a:latin typeface="Aptos"/>
              </a:rPr>
              <a:t>  →  </a:t>
            </a:r>
            <a:r>
              <a:rPr sz="1400" b="1" i="0" dirty="0" err="1">
                <a:latin typeface="Aptos"/>
              </a:rPr>
              <a:t>DimCustomer</a:t>
            </a:r>
            <a:r>
              <a:rPr sz="1400" b="1" i="0" dirty="0">
                <a:latin typeface="Aptos"/>
              </a:rPr>
              <a:t>  |  </a:t>
            </a:r>
            <a:r>
              <a:rPr sz="1400" b="1" i="0" dirty="0" err="1">
                <a:latin typeface="Aptos"/>
              </a:rPr>
              <a:t>DimProduct</a:t>
            </a:r>
            <a:r>
              <a:rPr sz="1400" b="1" i="0" dirty="0">
                <a:latin typeface="Aptos"/>
              </a:rPr>
              <a:t>  |  </a:t>
            </a:r>
            <a:r>
              <a:rPr sz="1400" b="1" i="0" dirty="0" err="1">
                <a:latin typeface="Aptos"/>
              </a:rPr>
              <a:t>DimDate</a:t>
            </a:r>
            <a:r>
              <a:rPr sz="1400" b="1" i="0" dirty="0">
                <a:latin typeface="Aptos"/>
              </a:rPr>
              <a:t>  |  </a:t>
            </a:r>
            <a:r>
              <a:rPr sz="1400" b="1" i="0" dirty="0" err="1">
                <a:latin typeface="Aptos"/>
              </a:rPr>
              <a:t>DimSalesTerritory</a:t>
            </a:r>
            <a:endParaRPr sz="1400" b="1" i="0" dirty="0"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EXCEL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t>Microsoft Excel | Pivot Tables | Charts | Slicers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7498079" cy="411480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024128"/>
            <a:ext cx="7168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EXCEL DASHBOARD 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429000" cy="54864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110642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Pivot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47218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Year-wise, month-wise, quarter-wise and region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3429000" cy="54864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20370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KPI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6946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Total Sales, Total Profit, Total Orders, Avg Order and Profit Margin.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1546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154680"/>
            <a:ext cx="3429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330098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Interactive Slicers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66674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Year, Region and Category filters for focused analysis.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25196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4251960"/>
            <a:ext cx="3429000" cy="54864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439826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Charts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76402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Bar, line, pie and combination charts for performance comparison.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41324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F2A43"/>
                </a:solidFill>
                <a:latin typeface="Aptos"/>
              </a:defRPr>
            </a:pPr>
            <a:r>
              <a:t>Excel Work Completed</a:t>
            </a:r>
            <a:br/>
            <a:r>
              <a:t>Data cleaning • calculated fields • pivot analysis • dashboard formatting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9400"/>
            <a:ext cx="247535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Adventure Works | Project Presentation | Group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713FB0E-1C83-3B58-CAC3-F8A59F3C6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0056"/>
            <a:ext cx="7498079" cy="4995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rPr dirty="0"/>
              <a:t>Overview | Executive KPIs | Sales Trends | Category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7498079" cy="411480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024128"/>
            <a:ext cx="7168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PAGE 1 - FINANCE &amp; SALES 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429000" cy="54864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110642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Executive KPIs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47218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Monitors $29.36M Total Sales, $12.08M Total Profit, 60K Units, and 28K Total Orders.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3429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20370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Top Products &amp;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6946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Bikes drive $28M revenue; Mountain-200 series leads top 20 selling products.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1546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154680"/>
            <a:ext cx="3429000" cy="54864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330098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Sales vs Cost Trajectory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66674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Monthly combo tracking revenue vs cost, peaking in Dec at $3.2M sales ($1.9M cost).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25196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4251960"/>
            <a:ext cx="3429000" cy="54864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439826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Interactive Slicers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76402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Dynamic multi-level filtering by Year, Month, and Country across all overview visuals.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41324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F2A43"/>
                </a:solidFill>
                <a:latin typeface="Aptos"/>
              </a:defRPr>
            </a:pPr>
            <a:r>
              <a:t>Power BI Overview Work Completed</a:t>
            </a:r>
            <a:br/>
            <a:r>
              <a:t>Data Modeling • DAX Calculations • Monthly Trends &amp; Slicers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9400"/>
            <a:ext cx="247535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Adventure Works | Project Presentation | Group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32" name="Picture 31" descr="power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0000"/>
            <a:ext cx="7498079" cy="41718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rPr dirty="0"/>
              <a:t>Detailed Analysis | Production Cost | Margin % | Customer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7498079" cy="411480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024128"/>
            <a:ext cx="7168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PAGE 2 - DETAILED ANALYTICAL BREAKDOWN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429000" cy="54864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110642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Cost &amp; Margin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47218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Tracks $17.28M Production Cost, 41.15% Profit Margin, and $1.06K Avg Order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3429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20370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Top 5 Customers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6946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Identifies high-value customers (Kaitlyn Henderson, Randall Dominguez) by sales &amp; profit.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1546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154680"/>
            <a:ext cx="3429000" cy="54864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330098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Quarterly Profit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66674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Quarterly donut breakdown showing Q4 leading with $3.76M (31.14%) profit contribution.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25196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4251960"/>
            <a:ext cx="3429000" cy="54864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439826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t>Granular Product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764024"/>
            <a:ext cx="30998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A3744"/>
                </a:solidFill>
                <a:latin typeface="Aptos"/>
              </a:defRPr>
            </a:pPr>
            <a:r>
              <a:t>Detailed matrix table breaking down product details, order quantity, cost, margin, and profit.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413248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F2A43"/>
                </a:solidFill>
                <a:latin typeface="Aptos"/>
              </a:defRPr>
            </a:pPr>
            <a:r>
              <a:t>Power BI Detailed Analysis Completed</a:t>
            </a:r>
            <a:br/>
            <a:r>
              <a:t>Customer Level Analytics • Profit Share by Quarter • Matrix 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9400"/>
            <a:ext cx="247535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Adventure Works | Project Presentation | Group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32" name="Picture 31" descr="power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0000"/>
            <a:ext cx="7498079" cy="41182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0E93-9873-D344-CDAC-9F2DB799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47C4E9-6AE0-D9FF-3B7D-F58733AF7122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E3D982-E2C2-9F7F-82C0-4DD857C71856}"/>
              </a:ext>
            </a:extLst>
          </p:cNvPr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37938-D651-1D96-1258-A6B5414E576F}"/>
              </a:ext>
            </a:extLst>
          </p:cNvPr>
          <p:cNvSpPr txBox="1"/>
          <p:nvPr/>
        </p:nvSpPr>
        <p:spPr>
          <a:xfrm>
            <a:off x="438912" y="118872"/>
            <a:ext cx="33295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F5F9FC"/>
                </a:solidFill>
                <a:latin typeface="Aptos"/>
              </a:rPr>
              <a:t>TABLEAU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BED30-7D1E-7B81-4EC0-CAFAD3ADF641}"/>
              </a:ext>
            </a:extLst>
          </p:cNvPr>
          <p:cNvSpPr txBox="1"/>
          <p:nvPr/>
        </p:nvSpPr>
        <p:spPr>
          <a:xfrm>
            <a:off x="8138160" y="164592"/>
            <a:ext cx="370005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>
                <a:solidFill>
                  <a:srgbClr val="AFC5D6"/>
                </a:solidFill>
                <a:latin typeface="Aptos"/>
              </a:rPr>
              <a:t>Tableau  |  Calculated Fields • Filters • Interactive Visualizations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41045-FDC4-E528-46E2-069797233746}"/>
              </a:ext>
            </a:extLst>
          </p:cNvPr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1C4920-7092-7204-1A29-8A882B194FEA}"/>
              </a:ext>
            </a:extLst>
          </p:cNvPr>
          <p:cNvSpPr/>
          <p:nvPr/>
        </p:nvSpPr>
        <p:spPr>
          <a:xfrm>
            <a:off x="502920" y="960120"/>
            <a:ext cx="7498079" cy="411480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ED723-B4AB-5FFC-91C6-EF01E8104FEC}"/>
              </a:ext>
            </a:extLst>
          </p:cNvPr>
          <p:cNvSpPr txBox="1"/>
          <p:nvPr/>
        </p:nvSpPr>
        <p:spPr>
          <a:xfrm>
            <a:off x="667512" y="1024128"/>
            <a:ext cx="7168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TABLEAU DASHBOARD SCREENSHOT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A25655E-8E7F-51A7-E758-9B4C54BEE4C8}"/>
              </a:ext>
            </a:extLst>
          </p:cNvPr>
          <p:cNvSpPr/>
          <p:nvPr/>
        </p:nvSpPr>
        <p:spPr>
          <a:xfrm>
            <a:off x="822960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EEA7A-719F-2169-A8E4-858544BF52F9}"/>
              </a:ext>
            </a:extLst>
          </p:cNvPr>
          <p:cNvSpPr/>
          <p:nvPr/>
        </p:nvSpPr>
        <p:spPr>
          <a:xfrm>
            <a:off x="8229600" y="960120"/>
            <a:ext cx="3429000" cy="54864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7A981B-DC92-A6E9-B84E-EE484F7ACC3F}"/>
              </a:ext>
            </a:extLst>
          </p:cNvPr>
          <p:cNvSpPr txBox="1"/>
          <p:nvPr/>
        </p:nvSpPr>
        <p:spPr>
          <a:xfrm>
            <a:off x="8394192" y="1106424"/>
            <a:ext cx="3264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A43"/>
                </a:solidFill>
                <a:latin typeface="Aptos"/>
              </a:defRPr>
            </a:pPr>
            <a:r>
              <a:rPr lang="en-IN" sz="1400" b="1" dirty="0">
                <a:solidFill>
                  <a:srgbClr val="0F2A43"/>
                </a:solidFill>
                <a:latin typeface="Aptos"/>
              </a:rPr>
              <a:t>DATA CONNECTION &amp; PREPARATION</a:t>
            </a:r>
            <a:endParaRPr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314C55-5C8C-3694-CC9C-989AEB63319E}"/>
              </a:ext>
            </a:extLst>
          </p:cNvPr>
          <p:cNvSpPr txBox="1"/>
          <p:nvPr/>
        </p:nvSpPr>
        <p:spPr>
          <a:xfrm>
            <a:off x="8394192" y="1472184"/>
            <a:ext cx="32644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A3744"/>
                </a:solidFill>
                <a:latin typeface="Aptos"/>
              </a:defRPr>
            </a:pPr>
            <a:r>
              <a:rPr lang="en-IN" sz="1050" dirty="0">
                <a:solidFill>
                  <a:srgbClr val="2A3744"/>
                </a:solidFill>
                <a:latin typeface="Aptos"/>
              </a:rPr>
              <a:t>Connected and prepared </a:t>
            </a:r>
            <a:r>
              <a:rPr lang="en-IN" sz="1050" dirty="0" err="1">
                <a:solidFill>
                  <a:srgbClr val="2A3744"/>
                </a:solidFill>
                <a:latin typeface="Aptos"/>
              </a:rPr>
              <a:t>AdventureWorks</a:t>
            </a:r>
            <a:r>
              <a:rPr lang="en-IN" sz="1050" dirty="0">
                <a:solidFill>
                  <a:srgbClr val="2A3744"/>
                </a:solidFill>
                <a:latin typeface="Aptos"/>
              </a:rPr>
              <a:t> datasets using Tableau for analysis and visualization.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BAB8F29-1479-2633-5319-C99FCE35195C}"/>
              </a:ext>
            </a:extLst>
          </p:cNvPr>
          <p:cNvSpPr/>
          <p:nvPr/>
        </p:nvSpPr>
        <p:spPr>
          <a:xfrm>
            <a:off x="8229600" y="205740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2461F7-D96C-5EDE-D27B-ADBA3D412D64}"/>
              </a:ext>
            </a:extLst>
          </p:cNvPr>
          <p:cNvSpPr/>
          <p:nvPr/>
        </p:nvSpPr>
        <p:spPr>
          <a:xfrm>
            <a:off x="8229600" y="2057400"/>
            <a:ext cx="3429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1984BF-50F5-4D13-7A4D-4A51E3BB2405}"/>
              </a:ext>
            </a:extLst>
          </p:cNvPr>
          <p:cNvSpPr txBox="1"/>
          <p:nvPr/>
        </p:nvSpPr>
        <p:spPr>
          <a:xfrm>
            <a:off x="8394192" y="220370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A43"/>
                </a:solidFill>
                <a:latin typeface="Aptos"/>
              </a:defRPr>
            </a:pPr>
            <a:r>
              <a:rPr lang="en-IN" sz="1400" b="1" dirty="0">
                <a:solidFill>
                  <a:srgbClr val="0F2A43"/>
                </a:solidFill>
                <a:latin typeface="Aptos"/>
              </a:rPr>
              <a:t>DATA MODELING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B69792-3BEA-9316-CF8D-EE4550A009A2}"/>
              </a:ext>
            </a:extLst>
          </p:cNvPr>
          <p:cNvSpPr txBox="1"/>
          <p:nvPr/>
        </p:nvSpPr>
        <p:spPr>
          <a:xfrm>
            <a:off x="8394192" y="2569464"/>
            <a:ext cx="30998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A3744"/>
                </a:solidFill>
                <a:latin typeface="Aptos"/>
              </a:defRPr>
            </a:pPr>
            <a:r>
              <a:rPr lang="en-IN" sz="1050" dirty="0">
                <a:solidFill>
                  <a:srgbClr val="2A3744"/>
                </a:solidFill>
                <a:latin typeface="Aptos"/>
              </a:rPr>
              <a:t>Created relationships between sales, customer, product, date and sales territory data for analysis.</a:t>
            </a:r>
            <a:endParaRPr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E693966-A85E-4634-AD83-B51FE8551210}"/>
              </a:ext>
            </a:extLst>
          </p:cNvPr>
          <p:cNvSpPr/>
          <p:nvPr/>
        </p:nvSpPr>
        <p:spPr>
          <a:xfrm>
            <a:off x="8229600" y="31546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DEF6D7-FF40-1A85-684C-688F8999E5F9}"/>
              </a:ext>
            </a:extLst>
          </p:cNvPr>
          <p:cNvSpPr/>
          <p:nvPr/>
        </p:nvSpPr>
        <p:spPr>
          <a:xfrm>
            <a:off x="8229600" y="3154680"/>
            <a:ext cx="3429000" cy="54864"/>
          </a:xfrm>
          <a:prstGeom prst="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7E3FDE-E9E3-93C7-29F8-DED49020536E}"/>
              </a:ext>
            </a:extLst>
          </p:cNvPr>
          <p:cNvSpPr txBox="1"/>
          <p:nvPr/>
        </p:nvSpPr>
        <p:spPr>
          <a:xfrm>
            <a:off x="8394192" y="330098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A43"/>
                </a:solidFill>
                <a:latin typeface="Aptos"/>
              </a:defRPr>
            </a:pPr>
            <a:r>
              <a:rPr lang="en-IN" sz="1400" b="1" dirty="0">
                <a:solidFill>
                  <a:srgbClr val="0F2A43"/>
                </a:solidFill>
                <a:latin typeface="Aptos"/>
              </a:rPr>
              <a:t>CALCULATED FIELDS &amp; KPIs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C6F9FE-E8A8-82EF-3348-AEF38651CA1B}"/>
              </a:ext>
            </a:extLst>
          </p:cNvPr>
          <p:cNvSpPr txBox="1"/>
          <p:nvPr/>
        </p:nvSpPr>
        <p:spPr>
          <a:xfrm>
            <a:off x="8394192" y="3666744"/>
            <a:ext cx="32644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A3744"/>
                </a:solidFill>
                <a:latin typeface="Aptos"/>
              </a:defRPr>
            </a:pPr>
            <a:r>
              <a:rPr lang="en-IN" sz="1050" dirty="0">
                <a:solidFill>
                  <a:srgbClr val="2A3744"/>
                </a:solidFill>
                <a:latin typeface="Aptos"/>
              </a:rPr>
              <a:t>Created calculated fields for Sales, Profit, Production Cost, Profit Margin and other key metrics.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CD1732F-A8F2-BACF-65C3-1878D9F99F2C}"/>
              </a:ext>
            </a:extLst>
          </p:cNvPr>
          <p:cNvSpPr/>
          <p:nvPr/>
        </p:nvSpPr>
        <p:spPr>
          <a:xfrm>
            <a:off x="8229600" y="425196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F7C8A-4C70-E17C-E759-303D9A58CFBB}"/>
              </a:ext>
            </a:extLst>
          </p:cNvPr>
          <p:cNvSpPr/>
          <p:nvPr/>
        </p:nvSpPr>
        <p:spPr>
          <a:xfrm>
            <a:off x="8229600" y="4251960"/>
            <a:ext cx="3429000" cy="54864"/>
          </a:xfrm>
          <a:prstGeom prst="rect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813DD2-62E4-712F-12B4-6BBA6DCDB113}"/>
              </a:ext>
            </a:extLst>
          </p:cNvPr>
          <p:cNvSpPr txBox="1"/>
          <p:nvPr/>
        </p:nvSpPr>
        <p:spPr>
          <a:xfrm>
            <a:off x="8394192" y="4398264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A43"/>
                </a:solidFill>
                <a:latin typeface="Aptos"/>
              </a:defRPr>
            </a:pPr>
            <a:r>
              <a:rPr dirty="0"/>
              <a:t>Interactive Dashboard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BF9025-8D75-DCBB-4523-53532007D30F}"/>
              </a:ext>
            </a:extLst>
          </p:cNvPr>
          <p:cNvSpPr txBox="1"/>
          <p:nvPr/>
        </p:nvSpPr>
        <p:spPr>
          <a:xfrm>
            <a:off x="8394192" y="4764024"/>
            <a:ext cx="32644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A3744"/>
                </a:solidFill>
                <a:latin typeface="Aptos"/>
              </a:defRPr>
            </a:pPr>
            <a:r>
              <a:rPr lang="en-IN" sz="1050" dirty="0">
                <a:solidFill>
                  <a:srgbClr val="2A3744"/>
                </a:solidFill>
                <a:latin typeface="Aptos"/>
              </a:rPr>
              <a:t>Interactive filters and visualizations for Year, Region, Product Category, Customer and Sales analysis.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B790BF-3CD0-6143-AF24-5F0A99CAC905}"/>
              </a:ext>
            </a:extLst>
          </p:cNvPr>
          <p:cNvSpPr txBox="1"/>
          <p:nvPr/>
        </p:nvSpPr>
        <p:spPr>
          <a:xfrm>
            <a:off x="8229600" y="5413248"/>
            <a:ext cx="3429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A43"/>
                </a:solidFill>
                <a:latin typeface="Aptos"/>
              </a:defRPr>
            </a:pPr>
            <a:r>
              <a:rPr lang="en-IN" sz="1050" b="1" dirty="0">
                <a:solidFill>
                  <a:srgbClr val="0F2A43"/>
                </a:solidFill>
                <a:latin typeface="Aptos"/>
              </a:rPr>
              <a:t>Tableau Work Completed</a:t>
            </a:r>
            <a:br>
              <a:rPr lang="en-IN" sz="1050" b="1" dirty="0">
                <a:solidFill>
                  <a:srgbClr val="0F2A43"/>
                </a:solidFill>
                <a:latin typeface="Aptos"/>
              </a:rPr>
            </a:br>
            <a:r>
              <a:rPr lang="en-IN" sz="1050" b="1" dirty="0">
                <a:solidFill>
                  <a:srgbClr val="0F2A43"/>
                </a:solidFill>
                <a:latin typeface="Aptos"/>
              </a:rPr>
              <a:t>Data Preparation • Calculated Fields • KPI Analysis • Interactive Visual Storytelling</a:t>
            </a:r>
            <a:endParaRPr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C35794-C011-6404-56BF-0417F8CA69EB}"/>
              </a:ext>
            </a:extLst>
          </p:cNvPr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C9AAD3-25C9-C9DF-6A73-F69110F6EF93}"/>
              </a:ext>
            </a:extLst>
          </p:cNvPr>
          <p:cNvSpPr txBox="1"/>
          <p:nvPr/>
        </p:nvSpPr>
        <p:spPr>
          <a:xfrm>
            <a:off x="411480" y="6629400"/>
            <a:ext cx="247535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Adventure Works | Project Presentation | Group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EEF58C-3CB4-EE55-F8E4-1A36837A9FCB}"/>
              </a:ext>
            </a:extLst>
          </p:cNvPr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10" name="Picture 9" descr="Screenshot 2026-08-17 182722.png">
            <a:extLst>
              <a:ext uri="{FF2B5EF4-FFF2-40B4-BE49-F238E27FC236}">
                <a16:creationId xmlns:a16="http://schemas.microsoft.com/office/drawing/2014/main" id="{B822EE85-C059-61C2-484A-47CD1135A1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" t="2941" r="1016" b="2133"/>
          <a:stretch>
            <a:fillRect/>
          </a:stretch>
        </p:blipFill>
        <p:spPr>
          <a:xfrm>
            <a:off x="502920" y="1386448"/>
            <a:ext cx="7498079" cy="447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5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SQL QUERIES - Q0 TO Q6</a:t>
            </a:r>
          </a:p>
          <a:p>
            <a:pPr>
              <a:defRPr sz="1100">
                <a:solidFill>
                  <a:srgbClr val="D4AF37"/>
                </a:solidFill>
              </a:defRPr>
            </a:pPr>
            <a:r>
              <a:t>MySQL Transformations &amp;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AdventureWorks Cycles | Sales Analysis | Group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Q0 - Union of Both Sales Tables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CREATE TABLE Fact_Sales AS</a:t>
            </a:r>
            <a:br/>
            <a:r>
              <a:t>SELECT * FROM FactInternetSales</a:t>
            </a:r>
            <a:br/>
            <a:r>
              <a:t>UNION ALL SELECT * FROM Fact_Internet_Sales_New;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18872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Q1 - Lookup Product Name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f.*, p.EnglishProductName FROM Fact_Sales f</a:t>
            </a:r>
            <a:br/>
            <a:r>
              <a:t>LEFT JOIN DimProduct p ON f.ProductKey = p.ProductKey;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Q2 - Lookup Customer Name &amp; Unit Price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f.*, CONCAT(c.FirstName, ' ', c.LastName) AS CustomerFullName, p.ListPrice</a:t>
            </a:r>
            <a:br/>
            <a:r>
              <a:t>FROM Fact_Sales f LEFT JOIN DimProduct p ON f.ProductKey = p.ProductKey</a:t>
            </a:r>
            <a:br/>
            <a:r>
              <a:t>LEFT JOIN DimCustomer c ON f.CustomerKey = c.CustomerKey;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288036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Q3 - Date Columns from OrderDateKey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YEAR(...) AS Year, MONTH(...) AS MonthNo, MONTHNAME(...) AS MonthName,</a:t>
            </a:r>
            <a:br/>
            <a:r>
              <a:t>CONCAT('Q', QUARTER(...)) AS Quarter, DATE_FORMAT(..., '%Y-%b') AS YearMonth,</a:t>
            </a:r>
            <a:br/>
            <a:r>
              <a:t>CASE WHEN MONTH&gt;=4 THEN MONTH-3 ELSE MONTH+9 END AS FinancialMonth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Q4 - Sales Amount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(UnitPrice * OrderQuantity * (1 - UnitPriceDiscountPct)) AS SalesAmount</a:t>
            </a:r>
            <a:br/>
            <a:r>
              <a:t>FROM Fact_Sales;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57200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Q5 - Production Cost &amp; Q6 - Profit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(ProductStandardCost * OrderQuantity) AS ProductionCost FROM Fact_Sales;</a:t>
            </a:r>
            <a:br/>
            <a:r>
              <a:t>SELECT (SalesAmount - ProductionCost) AS Profit FROM Fact_Sales;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SQL QUERIES - Q7 TO Q13</a:t>
            </a:r>
          </a:p>
          <a:p>
            <a:pPr>
              <a:defRPr sz="1100">
                <a:solidFill>
                  <a:srgbClr val="D4AF37"/>
                </a:solidFill>
              </a:defRPr>
            </a:pPr>
            <a:r>
              <a:t>MySQL Transformations &amp;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AdventureWorks Cycles | Sales Analysis | Group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Q7 - Monthly Sales (Pivot)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YEAR(...) AS Year, MONTHNAME(...) AS Month,</a:t>
            </a:r>
            <a:br/>
            <a:r>
              <a:t>ROUND(SUM(UnitPrice*Qty*(1-Disc))/1000,2) || ' K' AS TotalSales</a:t>
            </a:r>
            <a:br/>
            <a:r>
              <a:t>FROM Fact_Sales GROUP BY Year, Month ORDER BY Year, Month;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18872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Q8 - Year-wise Sales (Bar Chart)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YEAR(STR_TO_DATE(OrderDateKey, '%Y%m%d')) AS Year,</a:t>
            </a:r>
            <a:br/>
            <a:r>
              <a:t>ROUND(SUM(UnitPrice*OrderQuantity*(1-UnitPriceDiscountPct))/1000,2) || ' K' AS TotalSales</a:t>
            </a:r>
            <a:br/>
            <a:r>
              <a:t>FROM Fact_Sales GROUP BY Year ORDER BY Year;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Q9 - Month-wise Sales (Line Chart)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Year, MonthNo, MonthName, ROUND(SUM(SalesAmount)/1000,2) || ' K' AS TotalSales</a:t>
            </a:r>
            <a:br/>
            <a:r>
              <a:t>FROM Fact_Sales GROUP BY Year, MonthNo, MonthName ORDER BY Year, MonthNo;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288036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Q10 - Quarter-wise Sales (Pie Chart)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CONCAT('Q', QUARTER(STR_TO_DATE(OrderDateKey, '%Y%m%d'))) AS Quarter,</a:t>
            </a:r>
            <a:br/>
            <a:r>
              <a:t>ROUND(SUM(UnitPrice*OrderQty*(1-Disc))/1000,2) || ' K' AS TotalSales</a:t>
            </a:r>
            <a:br/>
            <a:r>
              <a:t>FROM Fact_Sales GROUP BY Quarter ORDER BY Quarter;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Q11 - Sales vs Production Cost (Combo)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Year, ROUND(SUM(SalesAmount)/1000,2) || ' K' AS Sales,</a:t>
            </a:r>
            <a:br/>
            <a:r>
              <a:t>ROUND(SUM(ProductionCost)/1000,2) || ' K' AS ProductionCost</a:t>
            </a:r>
            <a:br/>
            <a:r>
              <a:t>FROM Fact_Sales GROUP BY Year ORDER BY Year;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57200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Q12 &amp; Q13 - Overall Dashboard KPIs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SELECT COUNT(DISTINCT CustomerKey) AS TotalCustomers,</a:t>
            </a:r>
            <a:br/>
            <a:r>
              <a:t>CONCAT(ROUND(SUM(SalesAmount)/1000000,2),' M') AS Total_Sales,</a:t>
            </a:r>
            <a:br/>
            <a:r>
              <a:t>CONCAT(ROUND(SUM(Profit)/1000000,2),' M') AS Total_Profit FROM Fact_Sales;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POWER QUERY - M FORMULAS</a:t>
            </a:r>
          </a:p>
          <a:p>
            <a:pPr>
              <a:defRPr sz="1100">
                <a:solidFill>
                  <a:srgbClr val="D4AF37"/>
                </a:solidFill>
              </a:defRPr>
            </a:pPr>
            <a:r>
              <a:t>Excel Power Query Data Prep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73152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rPr dirty="0" err="1"/>
              <a:t>AdventureWorks</a:t>
            </a:r>
            <a:r>
              <a:rPr dirty="0"/>
              <a:t> Cycles | Sales Analysis | Group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Q0 - Union (Append Queries)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= Table.Combine({FactInternetSales, Fact_Internet_Sales_New})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18872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Q1 - Product Name Lookup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= Table.NestedJoin(Fact_Sales, "ProductKey", DimProduct, "ProductKey", "DimProduct", JoinKind.LeftOuter)</a:t>
            </a:r>
            <a:br/>
            <a:r>
              <a:t>= Table.ExpandTableColumn(..., {"EnglishProductName"})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Q2 - Customer Name &amp; Price Lookup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= Table.AddColumn(tbl, "CustomerFullName", each [FirstName] &amp; " " &amp; ([MiddleName]??"") &amp; " " &amp; [LastName])</a:t>
            </a:r>
            <a:br/>
            <a:r>
              <a:t>= Table.NestedJoin(..., DimProduct, "ListPrice")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288036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Q3 - Date Fields from OrderDateKey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= Table.AddColumn(tbl, "OrderDate", each Date.From(Text.From([OrderDateKey]), "yyyyMMdd"))</a:t>
            </a:r>
            <a:br/>
            <a:r>
              <a:t>= Table.AddColumn(..., "Year", each Date.Year([OrderDate]))</a:t>
            </a:r>
            <a:br/>
            <a:r>
              <a:t>= Table.AddColumn(..., "FinancialMonth", each if Date.Month([OrderDate])&gt;=4 then Date.Month([OrderDate])-3 else Date.Month([OrderDate])+9)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Q4 &amp; Q5 - SalesAmount &amp; Cost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= Table.AddColumn(tbl, "SalesAmount", each [UnitPrice] * [OrderQuantity] * (1 - ([UnitPriceDiscountPct]??0)))</a:t>
            </a:r>
            <a:br/>
            <a:r>
              <a:t>= Table.AddColumn(tbl, "ProductionCost", each [ProductStandardCost] * [OrderQuantity])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572000"/>
            <a:ext cx="5303520" cy="1536192"/>
          </a:xfrm>
          <a:prstGeom prst="roundRect">
            <a:avLst/>
          </a:prstGeom>
          <a:solidFill>
            <a:srgbClr val="071324"/>
          </a:solidFill>
          <a:ln w="127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Q6 - Profit Calculation</a:t>
            </a:r>
          </a:p>
          <a:p>
            <a:pPr>
              <a:defRPr sz="850">
                <a:solidFill>
                  <a:srgbClr val="FCD34D"/>
                </a:solidFill>
                <a:latin typeface="Consolas"/>
              </a:defRPr>
            </a:pPr>
            <a:r>
              <a:t>= Table.AddColumn(tbl, "Profit", each [SalesAmount] - [ProductionCost])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18872"/>
            <a:ext cx="7955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4D8E3"/>
                </a:solidFill>
                <a:latin typeface="Aptos"/>
              </a:defRPr>
            </a:pPr>
            <a:r>
              <a:t>Adventure Works Sales Analysis | 2010–2014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999" cy="6400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2578608" cy="914400"/>
          </a:xfrm>
          <a:prstGeom prst="roundRect">
            <a:avLst/>
          </a:prstGeom>
          <a:solidFill>
            <a:srgbClr val="0F2A43"/>
          </a:solidFill>
          <a:ln>
            <a:solidFill>
              <a:srgbClr val="1C9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29.36M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9DCE7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960120"/>
            <a:ext cx="2578608" cy="914400"/>
          </a:xfrm>
          <a:prstGeom prst="roundRect">
            <a:avLst/>
          </a:prstGeom>
          <a:solidFill>
            <a:srgbClr val="0F2A43"/>
          </a:solidFill>
          <a:ln>
            <a:solidFill>
              <a:srgbClr val="1A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11556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12.08M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49047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9DCE7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960120"/>
            <a:ext cx="2578608" cy="914400"/>
          </a:xfrm>
          <a:prstGeom prst="roundRect">
            <a:avLst/>
          </a:prstGeom>
          <a:solidFill>
            <a:srgbClr val="0F2A43"/>
          </a:solidFill>
          <a:ln>
            <a:solidFill>
              <a:srgbClr val="705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11556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41.15%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49047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9DCE7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960120"/>
            <a:ext cx="2578608" cy="914400"/>
          </a:xfrm>
          <a:prstGeom prst="roundRect">
            <a:avLst/>
          </a:prstGeom>
          <a:solidFill>
            <a:srgbClr val="0F2A4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115568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486.09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490472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9DCE7"/>
                </a:solidFill>
                <a:latin typeface="Aptos"/>
              </a:defRPr>
            </a:pPr>
            <a:r>
              <a:t>Avg Order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14884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8368" y="2313432"/>
            <a:ext cx="393192" cy="393192"/>
          </a:xfrm>
          <a:prstGeom prst="ellipse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359152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3134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t>Peak Year: 2013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2743200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t>2013 delivered the highest annual sales, clearly ahead of the surrounding years.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14884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498848" y="2313432"/>
            <a:ext cx="393192" cy="393192"/>
          </a:xfrm>
          <a:prstGeom prst="ellipse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98848" y="2359152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3134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t>Top Region: Southwest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2743200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t>Southwest is a leading region and a major contributor to the overall sales base.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214884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339328" y="2313432"/>
            <a:ext cx="393192" cy="393192"/>
          </a:xfrm>
          <a:prstGeom prst="ellipse">
            <a:avLst/>
          </a:prstGeom>
          <a:solidFill>
            <a:srgbClr val="705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8" y="2359152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3134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t>Top Product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2743200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t>Mountain bike products dominate the top-selling list and drive a strong share of sales.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730752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8368" y="3895344"/>
            <a:ext cx="393192" cy="393192"/>
          </a:xfrm>
          <a:prstGeom prst="ellipse">
            <a:avLst/>
          </a:prstGeom>
          <a:solidFill>
            <a:srgbClr val="D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3941064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8953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t>Top 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4325112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t>Top customers contribute significant individual order values and are useful targets for retention.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730752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498848" y="3895344"/>
            <a:ext cx="393192" cy="3931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98848" y="3941064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8953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t>Quarter Trend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4325112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t>Quarter-level analysis highlights the strongest period and supports seasonal planning.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3730752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339328" y="3895344"/>
            <a:ext cx="393192" cy="393192"/>
          </a:xfrm>
          <a:prstGeom prst="ellipse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9328" y="3941064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38953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A43"/>
                </a:solidFill>
                <a:latin typeface="Aptos"/>
              </a:defRPr>
            </a:pPr>
            <a:r>
              <a:t>Sales &gt; Cost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4325112"/>
            <a:ext cx="3182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A3744"/>
                </a:solidFill>
                <a:latin typeface="Aptos"/>
              </a:defRPr>
            </a:pPr>
            <a:r>
              <a:t>Production cost remains below sales, supporting a positive and healthy profit margin.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11112"/>
            <a:ext cx="12191999" cy="2468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80" y="6629400"/>
            <a:ext cx="247535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Adventure Works | Project Presentation | Group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620256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96"/>
            <a:ext cx="12191999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91353"/>
            <a:ext cx="10835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2A43"/>
                </a:solidFill>
                <a:latin typeface="Aptos Display"/>
              </a:defRPr>
            </a:pPr>
            <a:r>
              <a:rPr dirty="0"/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72582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A3744"/>
                </a:solidFill>
                <a:latin typeface="Aptos"/>
              </a:defRPr>
            </a:pPr>
            <a:r>
              <a:rPr dirty="0"/>
              <a:t>Adventure Works Sales Analysis</a:t>
            </a:r>
            <a:br>
              <a:rPr dirty="0"/>
            </a:br>
            <a:r>
              <a:rPr dirty="0"/>
              <a:t>Excel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4572000"/>
            <a:ext cx="1645920" cy="310896"/>
          </a:xfrm>
          <a:prstGeom prst="roundRect">
            <a:avLst/>
          </a:prstGeom>
          <a:solidFill>
            <a:srgbClr val="1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4590288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4572000"/>
            <a:ext cx="1645920" cy="310896"/>
          </a:xfrm>
          <a:prstGeom prst="roundRect">
            <a:avLst/>
          </a:prstGeom>
          <a:solidFill>
            <a:srgbClr val="1C9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4590288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4572000"/>
            <a:ext cx="1645920" cy="31089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3425" y="4590288"/>
            <a:ext cx="74090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IN" sz="1050" b="1" dirty="0">
                <a:solidFill>
                  <a:srgbClr val="F5F9FC"/>
                </a:solidFill>
                <a:latin typeface="Aptos"/>
              </a:rPr>
              <a:t>TABLEAU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468880" y="5532120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68B9A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/>
              <a:t>GROUP 2 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6601968"/>
            <a:ext cx="1078992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Adventure Works | Project Presentation | Group 2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D021A925-A033-F624-F8EB-03ACFE00F457}"/>
              </a:ext>
            </a:extLst>
          </p:cNvPr>
          <p:cNvSpPr/>
          <p:nvPr/>
        </p:nvSpPr>
        <p:spPr>
          <a:xfrm>
            <a:off x="5463786" y="5084543"/>
            <a:ext cx="1264428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05FFA-B89A-1EFB-E1DE-60D81FEA572A}"/>
              </a:ext>
            </a:extLst>
          </p:cNvPr>
          <p:cNvSpPr txBox="1"/>
          <p:nvPr/>
        </p:nvSpPr>
        <p:spPr>
          <a:xfrm>
            <a:off x="5909914" y="5113033"/>
            <a:ext cx="4331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	SQL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1755</Words>
  <Application>Microsoft Office PowerPoint</Application>
  <PresentationFormat>Widescreen</PresentationFormat>
  <Paragraphs>191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Manas Deshmukh</cp:lastModifiedBy>
  <cp:revision>5</cp:revision>
  <dcterms:created xsi:type="dcterms:W3CDTF">2013-01-27T09:14:16Z</dcterms:created>
  <dcterms:modified xsi:type="dcterms:W3CDTF">2026-08-26T08:31:08Z</dcterms:modified>
  <cp:category/>
</cp:coreProperties>
</file>